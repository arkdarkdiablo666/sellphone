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44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97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CF0A-B29E-68AE-2306-9E1B5743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93514-5B81-F61F-6987-0F067B873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1EB4A-7532-B526-A3CC-515BD2C50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B9696-83FF-68E0-F1EE-F47B213D7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04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342E-B176-E284-6DF1-FADF1621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017C8-496E-0B13-78A9-630E839B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4F540-88E3-F107-1E5C-D56BD87EF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31D7B-A700-8A43-1D31-CAFCC75A3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13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KỸ THUẬT – CÔNG NGHỆ CẦN THƠ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Công Nghệ Thông Tin  |  </a:t>
            </a:r>
            <a:r>
              <a:rPr lang="en-US" sz="110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822960"/>
            <a:ext cx="2743200" cy="228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FF6B2B">
              <a:alpha val="15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</a:t>
            </a:r>
            <a:r>
              <a:rPr lang="en-US" sz="850" b="1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 MÔN HỌC –  </a:t>
            </a:r>
            <a:r>
              <a:rPr lang="en-US" sz="8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THƯƠNG MẠI ĐIỆN TỬ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kern="0" spc="10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PHONEZONE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Bán Điện Thoại Thông Minh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40782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sinh viên thực </a:t>
            </a:r>
            <a:r>
              <a:rPr lang="en-US" sz="110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hiện: Trần Thảo Minh		KHDL2211022</a:t>
            </a:r>
          </a:p>
          <a:p>
            <a:pPr marL="0" indent="0">
              <a:buNone/>
            </a:pPr>
            <a:r>
              <a:rPr lang="en-US" sz="110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         Phan Thị Mỹ Quyên		KHDL2211036</a:t>
            </a:r>
          </a:p>
          <a:p>
            <a:pPr marL="0" indent="0">
              <a:buNone/>
            </a:pPr>
            <a:r>
              <a:rPr lang="en-US" sz="110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         Hồng Diễm Thúy		KHDL2211001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42062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" y="1207008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61288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1288" y="13533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tài, mục tiêu &amp; phạm vi dự án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42062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" y="2596896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YÊU CẦU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" y="27432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năng, phi chức năng, dữ liệu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02736"/>
            <a:ext cx="42062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" y="3986784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61288" y="3767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" y="41330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Use Case, luồng nghiệp vụ chính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822960"/>
            <a:ext cx="42062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10912" y="1207008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96128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LỚP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96128" y="13533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– bảng, quan hệ, ràng buộc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212848"/>
            <a:ext cx="42062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10912" y="2596896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2596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9612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GIAO DIỆN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596128" y="27432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liên kết, màn hình chính, UI demo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602736"/>
            <a:ext cx="42062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10912" y="3986784"/>
            <a:ext cx="475488" cy="47548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10912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96128" y="3767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&amp; HƯỚNG PT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96128" y="41330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15 chức năng, hướng phát triển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– SẢN PHẨM &amp; DỊCH VỤ BÁN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41605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4160520" cy="4572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SẢN PHẨM BÁN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399032"/>
            <a:ext cx="310896" cy="310896"/>
          </a:xfrm>
          <a:prstGeom prst="ellipse">
            <a:avLst/>
          </a:prstGeom>
          <a:solidFill>
            <a:srgbClr val="FF6B2B">
              <a:alpha val="2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353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thông minh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Samsung, </a:t>
            </a:r>
            <a:r>
              <a:rPr lang="en-US" sz="100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Pixel,…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240280"/>
            <a:ext cx="310896" cy="310896"/>
          </a:xfrm>
          <a:prstGeom prst="ellipse">
            <a:avLst/>
          </a:prstGeom>
          <a:solidFill>
            <a:srgbClr val="FF6B2B">
              <a:alpha val="2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thể đa dạng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sắc, RAM (8–16 GB), ROM (64 GB–1 TB)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081528"/>
            <a:ext cx="310896" cy="310896"/>
          </a:xfrm>
          <a:prstGeom prst="ellipse">
            <a:avLst/>
          </a:prstGeom>
          <a:solidFill>
            <a:srgbClr val="FF6B2B">
              <a:alpha val="2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thông tin sản phẩm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3310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camera, pin, màn hình đầy đủ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FF6B2B">
              <a:alpha val="2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8770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khoảng giá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41513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tầm thấp đến cao </a:t>
            </a:r>
            <a:r>
              <a:rPr lang="en-US" sz="100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36592" y="749808"/>
            <a:ext cx="397764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36592" y="749808"/>
            <a:ext cx="3977640" cy="457200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28032" y="7498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MỤC ĐÍCH DỊCH VỤ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28032" y="1426464"/>
            <a:ext cx="73152" cy="512064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92624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sắm trực tuyến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92624" y="16459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kiếm, so sánh và đặt hàng dễ dàng 24/7 không cần đến cửa hàng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28032" y="2267712"/>
            <a:ext cx="73152" cy="512064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92624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linh hoạt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92624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COD, MoMo, VNPay – đa phương thức, an toàn bảo mật cao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3108960"/>
            <a:ext cx="73152" cy="51206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92624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thông minh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92624" y="33284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AI Claude gợi ý sản phẩm phù hợp ngân sách &amp; nhu cầu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28032" y="3950208"/>
            <a:ext cx="73152" cy="5120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chuyên sâu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92624" y="41696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Admin/Staff quản lý đơn hàng, kho, voucher, thống kê doanh thu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YÊU CẦU PHẦN MỀM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41605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4160520" cy="4114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261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17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ký, đăng nhập email/Google/Facebook, OTP email, đổi MK, cập nhật hồ sơ, upload avatar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311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Thêm/sửa</a:t>
            </a:r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/xóa, vô hiệu hóa </a:t>
            </a: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&amp; biến thể &amp; danh mục; vô hiệu hóa; quản lý ảnh; tách nền rembg async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Trigram fuzzy text; YOLOv8 Classification tìm bằng ảnh upload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hàng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657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hàng, voucher tự động, COD/MoMo/VNPay, theo dõi &amp; hủy đơn, đổi trả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370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+ BM25 tư vấn theo ngân sách, nhu cầu, lịch sử; fallback rule-based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749808"/>
            <a:ext cx="397764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36592" y="749808"/>
            <a:ext cx="3977640" cy="41148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7498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PHI CHỨC NĂNG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28032" y="1316736"/>
            <a:ext cx="64008" cy="475488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1261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517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30 ngày, bcrypt, brute-force Redis 5 lần → khóa 5 phút, OTP TTL 5 phút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2029968"/>
            <a:ext cx="64008" cy="47548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19751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2311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OTP, BM25 in-memory, transaction.atomic() chống race condition kho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8032" y="2743200"/>
            <a:ext cx="64008" cy="47548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26883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94436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dark theme, ảnh tự động tăng chất lượng Pillow + Cloudinary AI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28032" y="3456432"/>
            <a:ext cx="64008" cy="47548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3401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57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credentials lưu .env, không hardcode trong source code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4169664"/>
            <a:ext cx="64008" cy="475488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83480" y="4114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</a:t>
            </a:r>
            <a:r>
              <a:rPr lang="en-US" sz="1100" b="1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mở rộng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3708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Frontend/Backend tách biệt, authUtils tập trung, dễ mở rộng REST API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 – SƠ ĐỒ USE CASE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DB778-B221-D82B-F1C7-CD58DBA3D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776" y="782380"/>
            <a:ext cx="4740448" cy="40951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– LUỒNG NGHIỆP VỤ ĐẶT HÀNG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đặt hàng end-to-end  (Customer → System → Admin)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969264"/>
            <a:ext cx="2359152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316736"/>
            <a:ext cx="2359152" cy="3232404"/>
          </a:xfrm>
          <a:prstGeom prst="rect">
            <a:avLst/>
          </a:prstGeom>
          <a:solidFill>
            <a:srgbClr val="FF6B2B">
              <a:alpha val="6000"/>
            </a:srgbClr>
          </a:solidFill>
          <a:ln w="762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70632" y="969264"/>
            <a:ext cx="3877056" cy="347472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70632" y="96926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(Backend)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70632" y="1316736"/>
            <a:ext cx="3877056" cy="3232404"/>
          </a:xfrm>
          <a:prstGeom prst="rect">
            <a:avLst/>
          </a:prstGeom>
          <a:solidFill>
            <a:srgbClr val="00C6C2">
              <a:alpha val="6000"/>
            </a:srgbClr>
          </a:solidFill>
          <a:ln w="762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47688" y="969264"/>
            <a:ext cx="2084832" cy="34747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47688" y="96926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Staff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47688" y="1316736"/>
            <a:ext cx="2084832" cy="3232404"/>
          </a:xfrm>
          <a:prstGeom prst="rect">
            <a:avLst/>
          </a:prstGeom>
          <a:solidFill>
            <a:srgbClr val="34C759">
              <a:alpha val="6000"/>
            </a:srgbClr>
          </a:solidFill>
          <a:ln w="762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" y="1444752"/>
            <a:ext cx="2084832" cy="420624"/>
          </a:xfrm>
          <a:prstGeom prst="roundRect">
            <a:avLst>
              <a:gd name="adj" fmla="val 17391"/>
            </a:avLst>
          </a:prstGeom>
          <a:solidFill>
            <a:srgbClr val="FF6B2B">
              <a:alpha val="35000"/>
            </a:srgbClr>
          </a:solidFill>
          <a:ln w="1778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144475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Chọn SP &amp; biến thể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(màu, RAM, ROM)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89504" y="1444752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C6C2">
              <a:alpha val="35000"/>
            </a:srgbClr>
          </a:solidFill>
          <a:ln w="1778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9504" y="144475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tồn kho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(select_for_update)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19472" y="1444752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00C6C2">
              <a:alpha val="18000"/>
            </a:srgbClr>
          </a:solidFill>
          <a:ln w="1016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14447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nếu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hàng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15184" y="1655064"/>
            <a:ext cx="274320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18304" y="1655064"/>
            <a:ext cx="201168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" y="2011680"/>
            <a:ext cx="2084832" cy="420624"/>
          </a:xfrm>
          <a:prstGeom prst="roundRect">
            <a:avLst>
              <a:gd name="adj" fmla="val 17391"/>
            </a:avLst>
          </a:prstGeom>
          <a:solidFill>
            <a:srgbClr val="FF6B2B">
              <a:alpha val="35000"/>
            </a:srgbClr>
          </a:solidFill>
          <a:ln w="1778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20116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Áp dụng voucher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 gợi ý tốt nhất)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9504" y="2011680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C6C2">
              <a:alpha val="35000"/>
            </a:srgbClr>
          </a:solidFill>
          <a:ln w="1778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89504" y="2011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discount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 validate, không tin FE)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15184" y="2221992"/>
            <a:ext cx="274320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0352" y="2578608"/>
            <a:ext cx="2084832" cy="420624"/>
          </a:xfrm>
          <a:prstGeom prst="roundRect">
            <a:avLst>
              <a:gd name="adj" fmla="val 17391"/>
            </a:avLst>
          </a:prstGeom>
          <a:solidFill>
            <a:srgbClr val="FF6B2B">
              <a:alpha val="35000"/>
            </a:srgbClr>
          </a:solidFill>
          <a:ln w="1778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257860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Nhập địa chỉ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chọn thanh toán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89504" y="257860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C6C2">
              <a:alpha val="35000"/>
            </a:srgbClr>
          </a:solidFill>
          <a:ln w="1778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889504" y="25786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Order + trừ kho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transaction.atomic()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48272" y="2578608"/>
            <a:ext cx="1883664" cy="420624"/>
          </a:xfrm>
          <a:prstGeom prst="roundRect">
            <a:avLst>
              <a:gd name="adj" fmla="val 17391"/>
            </a:avLst>
          </a:prstGeom>
          <a:solidFill>
            <a:srgbClr val="34C759">
              <a:alpha val="35000"/>
            </a:srgbClr>
          </a:solidFill>
          <a:ln w="1778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48272" y="257860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đơn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cho Admin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15184" y="2788920"/>
            <a:ext cx="274320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18304" y="2788920"/>
            <a:ext cx="2029968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0352" y="3145536"/>
            <a:ext cx="2084832" cy="420624"/>
          </a:xfrm>
          <a:prstGeom prst="roundRect">
            <a:avLst>
              <a:gd name="adj" fmla="val 17391"/>
            </a:avLst>
          </a:prstGeom>
          <a:solidFill>
            <a:srgbClr val="FF6B2B">
              <a:alpha val="35000"/>
            </a:srgbClr>
          </a:solidFill>
          <a:ln w="1778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314553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Nhận xác nhận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theo dõi đơn hàng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89504" y="3145536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C6C2">
              <a:alpha val="35000"/>
            </a:srgbClr>
          </a:solidFill>
          <a:ln w="1778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89504" y="31455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MoMo/VNPay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(nếu online payment)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48272" y="3145536"/>
            <a:ext cx="1883664" cy="420624"/>
          </a:xfrm>
          <a:prstGeom prst="roundRect">
            <a:avLst>
              <a:gd name="adj" fmla="val 17391"/>
            </a:avLst>
          </a:prstGeom>
          <a:solidFill>
            <a:srgbClr val="34C759">
              <a:alpha val="35000"/>
            </a:srgbClr>
          </a:solidFill>
          <a:ln w="1778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48272" y="3145536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trạng thái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Pending→Delivered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15184" y="3355848"/>
            <a:ext cx="274320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18304" y="3355848"/>
            <a:ext cx="2029968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30352" y="3712464"/>
            <a:ext cx="2084832" cy="420624"/>
          </a:xfrm>
          <a:prstGeom prst="roundRect">
            <a:avLst>
              <a:gd name="adj" fmla="val 17391"/>
            </a:avLst>
          </a:prstGeom>
          <a:solidFill>
            <a:srgbClr val="FF6B2B">
              <a:alpha val="35000"/>
            </a:srgbClr>
          </a:solidFill>
          <a:ln w="1778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0352" y="371246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Nhận hàng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đổi trả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89504" y="3712464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00C6C2">
              <a:alpha val="35000"/>
            </a:srgbClr>
          </a:solidFill>
          <a:ln w="1778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89504" y="371246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ReturnRequest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hoàn tồn kho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48272" y="3712464"/>
            <a:ext cx="1883664" cy="420624"/>
          </a:xfrm>
          <a:prstGeom prst="roundRect">
            <a:avLst>
              <a:gd name="adj" fmla="val 17391"/>
            </a:avLst>
          </a:prstGeom>
          <a:solidFill>
            <a:srgbClr val="34C759">
              <a:alpha val="35000"/>
            </a:srgbClr>
          </a:solidFill>
          <a:ln w="1778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48272" y="3712464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duyệt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Approved/Rejected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15184" y="3922776"/>
            <a:ext cx="274320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18304" y="3922776"/>
            <a:ext cx="2029968" cy="9144"/>
          </a:xfrm>
          <a:prstGeom prst="line">
            <a:avLst/>
          </a:prstGeom>
          <a:noFill/>
          <a:ln w="11430">
            <a:solidFill>
              <a:srgbClr val="6A7F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572768" y="1865376"/>
            <a:ext cx="9144" cy="146304"/>
          </a:xfrm>
          <a:prstGeom prst="line">
            <a:avLst/>
          </a:prstGeom>
          <a:noFill/>
          <a:ln w="11430">
            <a:solidFill>
              <a:srgbClr val="FF6B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72768" y="2432304"/>
            <a:ext cx="9144" cy="146304"/>
          </a:xfrm>
          <a:prstGeom prst="line">
            <a:avLst/>
          </a:prstGeom>
          <a:noFill/>
          <a:ln w="11430">
            <a:solidFill>
              <a:srgbClr val="FF6B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572768" y="2999232"/>
            <a:ext cx="9144" cy="146304"/>
          </a:xfrm>
          <a:prstGeom prst="line">
            <a:avLst/>
          </a:prstGeom>
          <a:noFill/>
          <a:ln w="11430">
            <a:solidFill>
              <a:srgbClr val="FF6B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572768" y="3566160"/>
            <a:ext cx="9144" cy="146304"/>
          </a:xfrm>
          <a:prstGeom prst="line">
            <a:avLst/>
          </a:prstGeom>
          <a:noFill/>
          <a:ln w="11430">
            <a:solidFill>
              <a:srgbClr val="FF6B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803904" y="1865376"/>
            <a:ext cx="9144" cy="146304"/>
          </a:xfrm>
          <a:prstGeom prst="line">
            <a:avLst/>
          </a:prstGeom>
          <a:noFill/>
          <a:ln w="11430">
            <a:solidFill>
              <a:srgbClr val="00C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803904" y="2432304"/>
            <a:ext cx="9144" cy="146304"/>
          </a:xfrm>
          <a:prstGeom prst="line">
            <a:avLst/>
          </a:prstGeom>
          <a:noFill/>
          <a:ln w="11430">
            <a:solidFill>
              <a:srgbClr val="00C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803904" y="2999232"/>
            <a:ext cx="9144" cy="146304"/>
          </a:xfrm>
          <a:prstGeom prst="line">
            <a:avLst/>
          </a:prstGeom>
          <a:noFill/>
          <a:ln w="11430">
            <a:solidFill>
              <a:srgbClr val="00C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803904" y="3566160"/>
            <a:ext cx="9144" cy="146304"/>
          </a:xfrm>
          <a:prstGeom prst="line">
            <a:avLst/>
          </a:prstGeom>
          <a:noFill/>
          <a:ln w="11430">
            <a:solidFill>
              <a:srgbClr val="00C6C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690104" y="2999232"/>
            <a:ext cx="9144" cy="146304"/>
          </a:xfrm>
          <a:prstGeom prst="line">
            <a:avLst/>
          </a:prstGeom>
          <a:noFill/>
          <a:ln w="11430">
            <a:solidFill>
              <a:srgbClr val="34C7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690104" y="3566160"/>
            <a:ext cx="9144" cy="146304"/>
          </a:xfrm>
          <a:prstGeom prst="line">
            <a:avLst/>
          </a:prstGeom>
          <a:noFill/>
          <a:ln w="11430">
            <a:solidFill>
              <a:srgbClr val="34C7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LỚP – CLASS DIAGRAM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AD265B-0193-49B3-96A4-FE19B59F9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9" y="743296"/>
            <a:ext cx="8856341" cy="3903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15BEC-0141-C166-BA0C-E109F377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900D51-F8F9-66ED-CDFE-CE3F2D6505E8}"/>
              </a:ext>
            </a:extLst>
          </p:cNvPr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7A7763-5D7B-BBB8-17E3-AF09E5B8C908}"/>
              </a:ext>
            </a:extLst>
          </p:cNvPr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7E788F-6A82-C4A1-4D58-2A10839FCD18}"/>
              </a:ext>
            </a:extLst>
          </p:cNvPr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LỚP – CLASS DIAGRAM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F0EE15-89D4-BA38-6CA6-4D2395F8AB8B}"/>
              </a:ext>
            </a:extLst>
          </p:cNvPr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F82EBB-3563-952E-13CD-28FE4562E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9" y="779666"/>
            <a:ext cx="8856341" cy="39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6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7168A-2ACB-E10F-D3EA-AA5C6416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642E9D-B715-5F80-835A-BC4A9C6698C9}"/>
              </a:ext>
            </a:extLst>
          </p:cNvPr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CC546D-5BEE-06DA-7424-E15062677755}"/>
              </a:ext>
            </a:extLst>
          </p:cNvPr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EF4E35-1D5D-B4E7-0757-BD1917822FFC}"/>
              </a:ext>
            </a:extLst>
          </p:cNvPr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LỚP – CLASS DIAGRAM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8077E89-7A71-87CE-F977-33373DE58F95}"/>
              </a:ext>
            </a:extLst>
          </p:cNvPr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381293-1D73-FB1A-39C5-4C15D482B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9" y="914400"/>
            <a:ext cx="8856342" cy="39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LỚP – RÀNG BUỘC &amp; THIẾT KẾ DỮ LIỆU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73152" cy="9601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813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</a:t>
            </a:r>
            <a:r>
              <a:rPr lang="en-US" sz="1050" b="1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Đánh giá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0698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từ 1 đến 5 sao.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2893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CheckConstraint trong Django model, validate cả frontend trước khi gửi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74980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749808"/>
            <a:ext cx="73152" cy="9601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813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– Tồn kho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10698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StockQuantity ≥ 0 sau đặt hàng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12893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select_for_update() + F('StockQuantity')−qty + filter(StockQuantity__gte=qty) → race condition safe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0136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1801368"/>
            <a:ext cx="73152" cy="9601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18653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– Voucher ngày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1214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EndDate &gt; StartDate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3408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backend (fromisoformat) và frontend (DatePicker); bắt buộc có StartDate nếu có EndDate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80136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1801368"/>
            <a:ext cx="73152" cy="960120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8653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– Voucher 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21214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≤ 100 nếu type='percent'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23408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reject nếu Value &gt; 100; frontend cũng giới hạn input max=100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85292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2852928"/>
            <a:ext cx="73152" cy="96012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291693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– Mật khẩu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1729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ký tự, không chứa dấu cách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3924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cả register, change-password, reset-password frontend + backend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85292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2852928"/>
            <a:ext cx="73152" cy="9601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291693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– CustomerID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31729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i="1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KHxxx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33924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generate_customer_id() dùng select_for_update() tránh duplicate ID race condition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90448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3904488"/>
            <a:ext cx="73152" cy="960120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39684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– Đơn hàng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2245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đổi trả đơn đã Delivered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44439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check o.Status == 'Delivered' trước khi tạo ReturnRequest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904488"/>
            <a:ext cx="420624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46320" y="3904488"/>
            <a:ext cx="73152" cy="9601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83480" y="39684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 – Review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83480" y="42245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mua &amp; nhận hàng mới được review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83480" y="44439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OrderDetail filter(Status=Delivered, ProductID=...) → has_purchased=True mới cho phép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GIAO DIỆN – PHÂN HỆ KHÁCH HÀNG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283464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2834640" cy="42062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7498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Trang chủ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1353312"/>
            <a:ext cx="54864" cy="566928"/>
          </a:xfrm>
          <a:prstGeom prst="rect">
            <a:avLst/>
          </a:prstGeom>
          <a:solidFill>
            <a:srgbClr val="FF6B2B">
              <a:alpha val="4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2984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Slider theo trang (home/product/blog); ảnh, video, YouTube, GDrive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" y="2157984"/>
            <a:ext cx="54864" cy="566928"/>
          </a:xfrm>
          <a:prstGeom prst="rect">
            <a:avLst/>
          </a:prstGeom>
          <a:solidFill>
            <a:srgbClr val="FF6B2B">
              <a:alpha val="4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21031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nổi bật &amp; Best Sellers gọi API riêng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" y="2962656"/>
            <a:ext cx="54864" cy="566928"/>
          </a:xfrm>
          <a:prstGeom prst="rect">
            <a:avLst/>
          </a:prstGeom>
          <a:solidFill>
            <a:srgbClr val="FF6B2B">
              <a:alpha val="4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" y="29077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AI nổi góc phải, badge đếm tin chưa đọc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" y="3767328"/>
            <a:ext cx="54864" cy="566928"/>
          </a:xfrm>
          <a:prstGeom prst="rect">
            <a:avLst/>
          </a:prstGeom>
          <a:solidFill>
            <a:srgbClr val="FF6B2B">
              <a:alpha val="4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37124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Navbar: tìm kiếm, giỏ hàng, dropdown user/avatar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749808"/>
            <a:ext cx="283464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55848" y="749808"/>
            <a:ext cx="2834640" cy="420624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7498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Chi tiết sản phẩm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65576" y="1353312"/>
            <a:ext cx="54864" cy="566928"/>
          </a:xfrm>
          <a:prstGeom prst="rect">
            <a:avLst/>
          </a:prstGeom>
          <a:solidFill>
            <a:srgbClr val="00C6C2">
              <a:alpha val="40000"/>
            </a:srgbClr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12984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ProductImageSlider: zoom lightbox, video, thumbnail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65576" y="2157984"/>
            <a:ext cx="54864" cy="566928"/>
          </a:xfrm>
          <a:prstGeom prst="rect">
            <a:avLst/>
          </a:prstGeom>
          <a:solidFill>
            <a:srgbClr val="00C6C2">
              <a:alpha val="40000"/>
            </a:srgbClr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11880" y="21031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biến thể (màu + storage) → giá &amp; tồn kho thay đổi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65576" y="2962656"/>
            <a:ext cx="54864" cy="566928"/>
          </a:xfrm>
          <a:prstGeom prst="rect">
            <a:avLst/>
          </a:prstGeom>
          <a:solidFill>
            <a:srgbClr val="00C6C2">
              <a:alpha val="40000"/>
            </a:srgbClr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0" y="29077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</a:t>
            </a:r>
            <a:r>
              <a:rPr lang="en-US" sz="10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Editor với ảnh, video </a:t>
            </a: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nhúng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65576" y="3767328"/>
            <a:ext cx="54864" cy="566928"/>
          </a:xfrm>
          <a:prstGeom prst="rect">
            <a:avLst/>
          </a:prstGeom>
          <a:solidFill>
            <a:srgbClr val="00C6C2">
              <a:alpha val="40000"/>
            </a:srgbClr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11880" y="37124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đánh giá sao, upload ảnh/video, admin reply; Gợi ý blog liên quan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0216" y="749808"/>
            <a:ext cx="283464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00216" y="749808"/>
            <a:ext cx="2834640" cy="420624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0216" y="7498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Giỏ hàng &amp; Thanh toán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9944" y="1353312"/>
            <a:ext cx="54864" cy="566928"/>
          </a:xfrm>
          <a:prstGeom prst="rect">
            <a:avLst/>
          </a:prstGeom>
          <a:solidFill>
            <a:srgbClr val="34C759">
              <a:alpha val="40000"/>
            </a:srgbClr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56248" y="12984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popup mini + trang /cart đầy đủ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9944" y="2157984"/>
            <a:ext cx="54864" cy="566928"/>
          </a:xfrm>
          <a:prstGeom prst="rect">
            <a:avLst/>
          </a:prstGeom>
          <a:solidFill>
            <a:srgbClr val="34C759">
              <a:alpha val="40000"/>
            </a:srgbClr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56248" y="21031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voucher: gợi ý tốt nhất </a:t>
            </a:r>
            <a:r>
              <a:rPr lang="en-US" sz="10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9944" y="2962656"/>
            <a:ext cx="54864" cy="566928"/>
          </a:xfrm>
          <a:prstGeom prst="rect">
            <a:avLst/>
          </a:prstGeom>
          <a:solidFill>
            <a:srgbClr val="34C759">
              <a:alpha val="40000"/>
            </a:srgbClr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56248" y="29077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địa chỉ đã lưu hoặc nhập mới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9944" y="3767328"/>
            <a:ext cx="54864" cy="566928"/>
          </a:xfrm>
          <a:prstGeom prst="rect">
            <a:avLst/>
          </a:prstGeom>
          <a:solidFill>
            <a:srgbClr val="34C759">
              <a:alpha val="40000"/>
            </a:srgbClr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56248" y="37124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/ MoMo (QR) / VNPay (ATM, thẻ) sandbox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GIAO DIỆN – PHÂN HỆ QUẢN TRỊ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64008" cy="12801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877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2252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theo ngày/tháng/năm, biểu đồ thương hiệu &amp; danh mục, so sánh kỳ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74980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749808"/>
            <a:ext cx="64008" cy="1280160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11296" y="877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Quản lý SP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11296" y="12252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Thêm/sửa</a:t>
            </a:r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/xóa, vô hiệu </a:t>
            </a: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biến thể, danh mục; vô hiệu hóa; tách nền rembg async; Cloudinary 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0216" y="74980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0216" y="749808"/>
            <a:ext cx="64008" cy="128016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55664" y="877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Đơn hàng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5664" y="12252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Pending→Delivered, xử lý đổi/trả kèm ảnh/video minh chứng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16712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167128"/>
            <a:ext cx="64008" cy="12801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2295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 Voucher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264261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voucher %, cố định; vô hiệu/kích hoạt lại (check hết hạn); phạm vi: toàn SP / danh mục / SP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216712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55848" y="2167128"/>
            <a:ext cx="64008" cy="128016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11296" y="2295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Banner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11296" y="264261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ảnh/video (YouTube, GDrive); gán trang cụ thể home/product/blog; vô hiệu/bật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0216" y="216712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00216" y="2167128"/>
            <a:ext cx="64008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55664" y="2295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Bài viết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55664" y="264261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Editor dạng Notion; vô hiệu/kích hoạt bài viết; gợi ý bài liên quan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58444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584448"/>
            <a:ext cx="64008" cy="1280160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Nhân viên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40599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tài khoản Admin/Staff, đổi quyền, bảo vệ Admin gốc không thể xóa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55848" y="358444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55848" y="3584448"/>
            <a:ext cx="64008" cy="128016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11296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Activity Log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11296" y="40599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thao tác Admin/Staff: action, IP, thời gian; filter &amp; tìm kiếm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0216" y="358444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00216" y="3584448"/>
            <a:ext cx="64008" cy="128016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55664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Đánh giá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55664" y="40599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review &amp; bình luận, phản hồi trực tiếp, đính kèm ảnh/video/GIF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GIAO DIỆN THỰC TẾ HỆ THỐNG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4160520" cy="4023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4160520" cy="274320"/>
          </a:xfrm>
          <a:prstGeom prst="rect">
            <a:avLst/>
          </a:prstGeom>
          <a:solidFill>
            <a:srgbClr val="112240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09728" cy="10972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841248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" y="841248"/>
            <a:ext cx="109728" cy="109728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804672"/>
            <a:ext cx="3246120" cy="164592"/>
          </a:xfrm>
          <a:prstGeom prst="roundRect">
            <a:avLst>
              <a:gd name="adj" fmla="val 22222"/>
            </a:avLst>
          </a:prstGeom>
          <a:solidFill>
            <a:srgbClr val="0A1628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80467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11480" y="1024128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024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 ZONE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10241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0" y="10241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20440" y="10241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1371600"/>
            <a:ext cx="41605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137160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BANNER SLIDER  ←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260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NỔI BẬT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182112"/>
            <a:ext cx="1143000" cy="841248"/>
          </a:xfrm>
          <a:prstGeom prst="rect">
            <a:avLst/>
          </a:prstGeom>
          <a:solidFill>
            <a:srgbClr val="112240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6393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16 Pro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48640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29.990.000đ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764792" y="3182112"/>
            <a:ext cx="1143000" cy="841248"/>
          </a:xfrm>
          <a:prstGeom prst="rect">
            <a:avLst/>
          </a:prstGeom>
          <a:solidFill>
            <a:srgbClr val="112240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64792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10512" y="36393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16 Pro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810512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29.990.000đ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026664" y="3182112"/>
            <a:ext cx="1143000" cy="841248"/>
          </a:xfrm>
          <a:prstGeom prst="rect">
            <a:avLst/>
          </a:prstGeom>
          <a:solidFill>
            <a:srgbClr val="112240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26664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72384" y="36393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16 Pro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072384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29.990.000đ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069080" y="4270248"/>
            <a:ext cx="384048" cy="38404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69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45152" y="749808"/>
            <a:ext cx="4087368" cy="4023360"/>
          </a:xfrm>
          <a:prstGeom prst="rect">
            <a:avLst/>
          </a:prstGeom>
          <a:solidFill>
            <a:srgbClr val="1E1E2E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45152" y="749808"/>
            <a:ext cx="4087368" cy="274320"/>
          </a:xfrm>
          <a:prstGeom prst="rect">
            <a:avLst/>
          </a:prstGeom>
          <a:solidFill>
            <a:srgbClr val="112240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36592" y="841248"/>
            <a:ext cx="109728" cy="10972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37760" y="841248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38928" y="841248"/>
            <a:ext cx="109728" cy="109728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76672" y="804672"/>
            <a:ext cx="3172968" cy="164592"/>
          </a:xfrm>
          <a:prstGeom prst="roundRect">
            <a:avLst>
              <a:gd name="adj" fmla="val 22222"/>
            </a:avLst>
          </a:prstGeom>
          <a:solidFill>
            <a:srgbClr val="0A1628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22392" y="804672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localhost:3000/admin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645152" y="1024128"/>
            <a:ext cx="105156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90872" y="10698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PHONEZONE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690872" y="1536192"/>
            <a:ext cx="960120" cy="329184"/>
          </a:xfrm>
          <a:prstGeom prst="rect">
            <a:avLst/>
          </a:prstGeom>
          <a:solidFill>
            <a:srgbClr val="FF6B2B">
              <a:alpha val="20000"/>
            </a:srgbClr>
          </a:solidFill>
          <a:ln w="635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36592" y="15361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90872" y="1929384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36592" y="19293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90872" y="2322576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36592" y="23225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90872" y="2715768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36592" y="2715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90872" y="3108960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36592" y="3108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90872" y="3502152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36592" y="3502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viết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90872" y="3895344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36592" y="38953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90872" y="4288536"/>
            <a:ext cx="9601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36592" y="42885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724144" y="1078992"/>
            <a:ext cx="896112" cy="530352"/>
          </a:xfrm>
          <a:prstGeom prst="rect">
            <a:avLst/>
          </a:prstGeom>
          <a:solidFill>
            <a:srgbClr val="FF6B2B">
              <a:alpha val="12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724144" y="107899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125.4tr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724144" y="1399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684264" y="1078992"/>
            <a:ext cx="896112" cy="530352"/>
          </a:xfrm>
          <a:prstGeom prst="rect">
            <a:avLst/>
          </a:prstGeom>
          <a:solidFill>
            <a:srgbClr val="00C6C2">
              <a:alpha val="12000"/>
            </a:srgbClr>
          </a:solidFill>
          <a:ln w="1016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684264" y="107899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684264" y="1399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644384" y="1078992"/>
            <a:ext cx="896112" cy="530352"/>
          </a:xfrm>
          <a:prstGeom prst="rect">
            <a:avLst/>
          </a:prstGeom>
          <a:solidFill>
            <a:srgbClr val="34C759">
              <a:alpha val="12000"/>
            </a:srgbClr>
          </a:solidFill>
          <a:ln w="1016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644384" y="107899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644384" y="1399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mới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724144" y="1664208"/>
            <a:ext cx="2962656" cy="1371600"/>
          </a:xfrm>
          <a:prstGeom prst="rect">
            <a:avLst/>
          </a:prstGeom>
          <a:solidFill>
            <a:srgbClr val="112240"/>
          </a:solidFill>
          <a:ln w="635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769864" y="1664208"/>
            <a:ext cx="2916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Biểu đồ Doanh thu theo tháng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769864" y="310896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 MỚI NHẤT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769864" y="336499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#1042  Samsung S25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863840" y="3401568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00C6C2">
              <a:alpha val="20000"/>
            </a:srgbClr>
          </a:solidFill>
          <a:ln w="635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863840" y="34015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769864" y="3694176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#1041  iPhone 16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863840" y="3730752"/>
            <a:ext cx="777240" cy="182880"/>
          </a:xfrm>
          <a:prstGeom prst="roundRect">
            <a:avLst>
              <a:gd name="adj" fmla="val 20000"/>
            </a:avLst>
          </a:prstGeom>
          <a:solidFill>
            <a:srgbClr val="34C759">
              <a:alpha val="20000"/>
            </a:srgbClr>
          </a:solidFill>
          <a:ln w="635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863840" y="37307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411480" y="482803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Trang chủ – Dark Theme, Responsive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645152" y="4828032"/>
            <a:ext cx="4087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Admin Dashboard – Sidebar, KPI, Biểu đồ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&amp; CÔNG NGHỆ SỬ DỤNG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283464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8778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 + Tailwind 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42646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Responsive, Dark theme, Context API, React Router v6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5848" y="74980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749808"/>
            <a:ext cx="2834640" cy="73152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5576" y="8778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65576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4.x + DRF + PyJWT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65576" y="142646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server, phân quyền 3 cấp: Customer / Staff / Admin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74980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0216" y="749808"/>
            <a:ext cx="2834640" cy="7315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9944" y="8778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9944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2019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9944" y="142646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bảng; IsActive vô hiệu hóa; ràng buộc toàn vẹn; transaction.atomic()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16712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167128"/>
            <a:ext cx="2834640" cy="7315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" y="2295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" y="28437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TTL 5 phút, brute-force counter, session lock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55848" y="216712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55848" y="2167128"/>
            <a:ext cx="2834640" cy="7315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65576" y="2295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65576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+ Pillow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65576" y="28437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resize, AI enhance: sharpen/contrast/color, rembg tách nền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0216" y="216712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00216" y="2167128"/>
            <a:ext cx="2834640" cy="7315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9944" y="22951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9944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 Classification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9944" y="28437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SP từ ảnh; incremental train: new=30ep, update=10ep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58444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3584448"/>
            <a:ext cx="2834640" cy="73152"/>
          </a:xfrm>
          <a:prstGeom prst="rect">
            <a:avLst/>
          </a:prstGeom>
          <a:solidFill>
            <a:srgbClr val="00C6C2"/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1208" y="3712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(claude-haiku) + BM25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" y="42611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theo ngân sách, lịch sử; fallback rule-based khi offline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55848" y="358444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55848" y="3584448"/>
            <a:ext cx="2834640" cy="7315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65576" y="3712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65576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 + VNPay (Sandbox)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65576" y="42611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captureWallet API, HMAC-SHA256 signature, IPN callback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0216" y="3584448"/>
            <a:ext cx="283464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00216" y="3584448"/>
            <a:ext cx="2834640" cy="7315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09944" y="3712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OAuth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9944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+ Facebook Login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9944" y="42611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@react-oauth/google + @greatsumini/react-facebook-login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THỬ NGHIỆM – 20 CHỨC NĂNG HOÀN THÀNH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19202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749808"/>
            <a:ext cx="19202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7498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14600" y="1243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749808"/>
            <a:ext cx="19202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7498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1243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749808"/>
            <a:ext cx="19202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7498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20840" y="1243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tìm kiếm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tích hợp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70078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17007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17007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ký/Đăng nhập (email, Google, Facebook)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0208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0208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mật khẩu OTP email (Redis TTL 5 phút)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34086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3408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23408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sản phẩm &amp; biến thể (rembg async)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660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BM25 text + Trigram fuzzy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98094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298094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2980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bằng hình ảnh YOLOv8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3009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3009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&amp; đặt hàng (select_for_update)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62102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6210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3621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MoMo (captureWallet sandbox)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3387" y="39036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39410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VNPay (SHA512 sandbox)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170078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17007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17007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&amp; gợi ý tốt nhất tự động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20208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0208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AI Claude + BM25 fallback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234086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23408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23408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doanh thu ngày/tháng/năm/thương hiệu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92040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2660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bài viết Block Editor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298094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92040" y="298094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2980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a </a:t>
            </a: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trang; ảnh + video (YouTube, Google Drive)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92040" y="330098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33009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hoạt động Activity Log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0600" y="3621024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92040" y="36210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44EF5D85-38A9-A835-B2D4-5409ECB16D0A}"/>
              </a:ext>
            </a:extLst>
          </p:cNvPr>
          <p:cNvSpPr/>
          <p:nvPr/>
        </p:nvSpPr>
        <p:spPr>
          <a:xfrm>
            <a:off x="5212080" y="36268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chemeClr val="bg1">
                    <a:lumMod val="75000"/>
                  </a:schemeClr>
                </a:solidFill>
              </a:rPr>
              <a:t>Bảo mật JWT + brute-force Redis protection</a:t>
            </a:r>
          </a:p>
          <a:p>
            <a:r>
              <a:rPr lang="en-US" sz="950">
                <a:solidFill>
                  <a:schemeClr val="bg1">
                    <a:lumMod val="75000"/>
                  </a:schemeClr>
                </a:solidFill>
              </a:rPr>
              <a:t>Vô hiệu hóa SP, biến thể, danh mục, bài viết</a:t>
            </a:r>
            <a:endParaRPr lang="en-US" sz="95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17A05237-F958-9141-88EF-6141C2B0A942}"/>
              </a:ext>
            </a:extLst>
          </p:cNvPr>
          <p:cNvSpPr/>
          <p:nvPr/>
        </p:nvSpPr>
        <p:spPr>
          <a:xfrm>
            <a:off x="4897949" y="39502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8" name="Text 53">
            <a:extLst>
              <a:ext uri="{FF2B5EF4-FFF2-40B4-BE49-F238E27FC236}">
                <a16:creationId xmlns:a16="http://schemas.microsoft.com/office/drawing/2014/main" id="{EEA848B3-42A6-AD42-A6C6-B9AB21CAF64F}"/>
              </a:ext>
            </a:extLst>
          </p:cNvPr>
          <p:cNvSpPr/>
          <p:nvPr/>
        </p:nvSpPr>
        <p:spPr>
          <a:xfrm>
            <a:off x="5212080" y="3940131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theo trang riêng (home/product/blog)</a:t>
            </a:r>
          </a:p>
        </p:txBody>
      </p:sp>
      <p:sp>
        <p:nvSpPr>
          <p:cNvPr id="63" name="Shape 51">
            <a:extLst>
              <a:ext uri="{FF2B5EF4-FFF2-40B4-BE49-F238E27FC236}">
                <a16:creationId xmlns:a16="http://schemas.microsoft.com/office/drawing/2014/main" id="{8CCA1575-E2C4-5BE3-2217-C0A34B4399E8}"/>
              </a:ext>
            </a:extLst>
          </p:cNvPr>
          <p:cNvSpPr/>
          <p:nvPr/>
        </p:nvSpPr>
        <p:spPr>
          <a:xfrm>
            <a:off x="4800600" y="4229380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3">
            <a:extLst>
              <a:ext uri="{FF2B5EF4-FFF2-40B4-BE49-F238E27FC236}">
                <a16:creationId xmlns:a16="http://schemas.microsoft.com/office/drawing/2014/main" id="{68C0ED98-0E8B-7871-127E-CF7C1E3688D1}"/>
              </a:ext>
            </a:extLst>
          </p:cNvPr>
          <p:cNvSpPr/>
          <p:nvPr/>
        </p:nvSpPr>
        <p:spPr>
          <a:xfrm>
            <a:off x="5212080" y="4278271"/>
            <a:ext cx="3703320" cy="38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kích hoạt/vô hiệu (check hết hạn)</a:t>
            </a:r>
          </a:p>
          <a:p>
            <a:endParaRPr lang="en-US" sz="950" dirty="0">
              <a:solidFill>
                <a:srgbClr val="B0B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Text 52">
            <a:extLst>
              <a:ext uri="{FF2B5EF4-FFF2-40B4-BE49-F238E27FC236}">
                <a16:creationId xmlns:a16="http://schemas.microsoft.com/office/drawing/2014/main" id="{05C2BABB-F80D-F460-649C-349452E41040}"/>
              </a:ext>
            </a:extLst>
          </p:cNvPr>
          <p:cNvSpPr/>
          <p:nvPr/>
        </p:nvSpPr>
        <p:spPr>
          <a:xfrm>
            <a:off x="4897949" y="423824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66" name="Shape 51">
            <a:extLst>
              <a:ext uri="{FF2B5EF4-FFF2-40B4-BE49-F238E27FC236}">
                <a16:creationId xmlns:a16="http://schemas.microsoft.com/office/drawing/2014/main" id="{9223206A-E806-8C49-D8E1-FC9C977E0335}"/>
              </a:ext>
            </a:extLst>
          </p:cNvPr>
          <p:cNvSpPr/>
          <p:nvPr/>
        </p:nvSpPr>
        <p:spPr>
          <a:xfrm>
            <a:off x="457200" y="4229380"/>
            <a:ext cx="4206240" cy="31089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3"/>
          <p:cNvSpPr/>
          <p:nvPr/>
        </p:nvSpPr>
        <p:spPr>
          <a:xfrm>
            <a:off x="822960" y="4251027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gợi ý bài viết liên quan</a:t>
            </a:r>
          </a:p>
          <a:p>
            <a:pPr marL="0" indent="0">
              <a:buNone/>
            </a:pPr>
            <a:r>
              <a:rPr lang="en-US" sz="95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thông minh nhập hàng &amp; mô tả SP</a:t>
            </a:r>
            <a:endParaRPr lang="en-US" sz="950" dirty="0">
              <a:solidFill>
                <a:srgbClr val="B0B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56D35844-5C63-DDB7-00DB-35633EF2B465}"/>
              </a:ext>
            </a:extLst>
          </p:cNvPr>
          <p:cNvSpPr/>
          <p:nvPr/>
        </p:nvSpPr>
        <p:spPr>
          <a:xfrm>
            <a:off x="503387" y="4221729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05256" y="201168"/>
            <a:ext cx="36576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 &amp; HƯỚNG PHÁT TRIỂN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8321040" cy="22860"/>
          </a:xfrm>
          <a:prstGeom prst="rect">
            <a:avLst/>
          </a:prstGeom>
          <a:solidFill>
            <a:srgbClr val="1B3057"/>
          </a:solidFill>
          <a:ln w="12700">
            <a:solidFill>
              <a:srgbClr val="1B3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83210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04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NỔI BẬT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thực tế: YOLOv8 incremental training + Claude AI chatbot BM25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đa lớp: JWT, bcrypt, OTP Redis TTL, race condition xử lý đúng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sạch: authUtils tập trung, .env config, tách Frontend/Backend hoàn toàn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ảnh tự động: Pillow enhance + Cloudinary AI + rembg tách nền async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28346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" y="2468880"/>
            <a:ext cx="402336" cy="402336"/>
          </a:xfrm>
          <a:prstGeom prst="ellipse">
            <a:avLst/>
          </a:prstGeom>
          <a:solidFill>
            <a:srgbClr val="00C6C2">
              <a:alpha val="25000"/>
            </a:srgbClr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7784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24942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" y="259689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Django Channels, cập nhật đơn hàng &amp; khuyến mãi real-time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55848" y="2084832"/>
            <a:ext cx="28346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02152" y="2468880"/>
            <a:ext cx="402336" cy="402336"/>
          </a:xfrm>
          <a:prstGeom prst="ellipse">
            <a:avLst/>
          </a:prstGeom>
          <a:solidFill>
            <a:srgbClr val="34C759">
              <a:alpha val="25000"/>
            </a:srgbClr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02152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14216" y="224942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14216" y="259689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hoặc Flutter, sử dụng chung Django REST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0216" y="2084832"/>
            <a:ext cx="28346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2468880"/>
            <a:ext cx="402336" cy="402336"/>
          </a:xfrm>
          <a:prstGeom prst="ellipse">
            <a:avLst/>
          </a:prstGeom>
          <a:solidFill>
            <a:srgbClr val="FF6B2B">
              <a:alpha val="25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58584" y="224942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58584" y="259689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từ lịch sử mua hàng &amp; hành vi người dùng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74720"/>
            <a:ext cx="28346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" y="3858768"/>
            <a:ext cx="402336" cy="402336"/>
          </a:xfrm>
          <a:prstGeom prst="ellipse">
            <a:avLst/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9848" y="3639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cổng thanh toán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9867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ZaloPay, thẻ tín dụng; tích hợp GHN/GHTK quản lý vận chuyển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55848" y="3474720"/>
            <a:ext cx="28346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02152" y="3858768"/>
            <a:ext cx="402336" cy="402336"/>
          </a:xfrm>
          <a:prstGeom prst="ellipse">
            <a:avLst/>
          </a:prstGeom>
          <a:solidFill>
            <a:srgbClr val="BF5AF2">
              <a:alpha val="25000"/>
            </a:srgbClr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0215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14216" y="3639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14216" y="39867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 pipeline, deploy AWS/GCP với auto-scaling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0216" y="3474720"/>
            <a:ext cx="283464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B305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46520" y="3858768"/>
            <a:ext cx="402336" cy="402336"/>
          </a:xfrm>
          <a:prstGeom prst="ellipse">
            <a:avLst/>
          </a:prstGeom>
          <a:solidFill>
            <a:srgbClr val="00C6C2">
              <a:alpha val="25000"/>
            </a:srgbClr>
          </a:solidFill>
          <a:ln w="12700">
            <a:solidFill>
              <a:srgbClr val="00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4652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58584" y="3639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AI Search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58584" y="39867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 riêng cho điện thoại, tăng độ chính xác nhận diện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" y="5015484"/>
            <a:ext cx="8887968" cy="128016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12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PHONEZONE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</a:t>
            </a:r>
            <a:r>
              <a:rPr lang="en-US" sz="18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ơn Thầy </a:t>
            </a: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các bạn đã lắng nghe!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670048"/>
            <a:ext cx="2743200" cy="228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Bán Điện Thoại  |  PHONEZONE  </a:t>
            </a:r>
            <a:r>
              <a:rPr lang="en-US" sz="110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1821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ĐH Kỹ Thuật – Công Nghệ Cần Thơ  |  Khoa Công Nghệ Thông Tin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19072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19072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35224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35224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51376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51376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67528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67528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 + VNPay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99832" y="37490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6B2B">
              <a:alpha val="15000"/>
            </a:srgbClr>
          </a:solidFill>
          <a:ln w="1016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99832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2100</Words>
  <Application>Microsoft Office PowerPoint</Application>
  <PresentationFormat>On-screen Show (16:9)</PresentationFormat>
  <Paragraphs>365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PHONEZONE – Báo cáo Đồ án TMĐT</dc:title>
  <dc:subject>PptxGenJS Presentation</dc:subject>
  <dc:creator>PptxGenJS</dc:creator>
  <cp:lastModifiedBy>Ark Dark</cp:lastModifiedBy>
  <cp:revision>9</cp:revision>
  <dcterms:created xsi:type="dcterms:W3CDTF">2026-03-21T13:27:02Z</dcterms:created>
  <dcterms:modified xsi:type="dcterms:W3CDTF">2026-03-22T03:05:29Z</dcterms:modified>
</cp:coreProperties>
</file>